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Fraunces" charset="1" panose="00000000000000000000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Fraunces Light" charset="1" panose="00000000000000000000"/>
      <p:regular r:id="rId25"/>
    </p:embeddedFont>
    <p:embeddedFont>
      <p:font typeface="Arimo Italics" charset="1" panose="020B060402020209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076745"/>
            <a:ext cx="9445523" cy="35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Evaluasi Keamanan Sistem Informasi Menggunakan Fuzzy FMEA Berbasis ISO/IEC 27001:2013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215215"/>
            <a:ext cx="4376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Penulis: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Aris Kusnandar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923932"/>
            <a:ext cx="4376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Jurnal: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Jurnal Sistem Informasi Bisnis (2024)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070397" y="6215215"/>
            <a:ext cx="4376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Institusi: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Universitas Diponegoro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70397" y="7377560"/>
            <a:ext cx="4376890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Tahun: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2024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80317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Gambaran Umum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627109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Abstrak Penelitian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52567"/>
            <a:ext cx="16303523" cy="1919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Keamanan informasi merupakan aset strategis yang rentan terhadap berbagai ancaman siber. Dinas Kependudukan XYZ menghadapi risiko nyata seperti pencurian data, peretasan, dan penipuan digital. Penelitian ini mengintegrasikan standar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ISO/IEC 27001:2013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dengan metode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Fuzzy FMEA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untuk mengevaluasi dan memprioritaskan risiko keamanan secara akurat.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6" y="6086027"/>
            <a:ext cx="5254971" cy="2115893"/>
            <a:chOff x="0" y="0"/>
            <a:chExt cx="7006628" cy="28211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5284" y="637431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13 Risiko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5284" y="6892080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Prioritas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Sangat Tinggi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teridentifikasi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6443" y="6086027"/>
            <a:ext cx="5254971" cy="2115893"/>
            <a:chOff x="0" y="0"/>
            <a:chExt cx="7006628" cy="28211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814242" y="637431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10 Risiko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14242" y="6892080"/>
            <a:ext cx="465936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Prioritas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Tinggi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teridentifikasi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45401" y="6086027"/>
            <a:ext cx="5254971" cy="2115893"/>
            <a:chOff x="0" y="0"/>
            <a:chExt cx="7006628" cy="28211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343209" y="6374311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Kesimpulan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3209" y="6892080"/>
            <a:ext cx="465936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Organisasi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belum memenuhi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standar keamanan ISO 27001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56815" y="1034653"/>
            <a:ext cx="6835083" cy="873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Latar Belakang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815" y="2217839"/>
            <a:ext cx="9516370" cy="180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Meningkatnya ketergantungan organisasi terhadap teknologi informasi membawa konsekuensi serius: risiko keamanan yang semakin kompleks. Informasi adalah aset kritis yang harus dilindungi dari berbagai ancaman.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815" y="4572152"/>
            <a:ext cx="3417541" cy="43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Ancaman Utama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59361" y="5318741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3" y="0"/>
                </a:lnTo>
                <a:lnTo>
                  <a:pt x="410023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t="0" r="-795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45316" y="5219548"/>
            <a:ext cx="3536156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Pencurian dan kebocoran data sensitif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1059361" y="6704933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3" y="0"/>
                </a:lnTo>
                <a:lnTo>
                  <a:pt x="410023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t="0" r="-795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45316" y="6605740"/>
            <a:ext cx="3536156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Peretasan sistem (hacking)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059361" y="8091116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3" y="0"/>
                </a:lnTo>
                <a:lnTo>
                  <a:pt x="410023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t="0" r="-795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45316" y="7991923"/>
            <a:ext cx="3536156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Penipuan dan rekayasa sosial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58052" y="4572152"/>
            <a:ext cx="4392511" cy="436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Dampak yang Ditimbulkan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6160589" y="5318741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3" y="0"/>
                </a:lnTo>
                <a:lnTo>
                  <a:pt x="410023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t="0" r="-7954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946554" y="5219548"/>
            <a:ext cx="3536156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Kerugian finansial signifikan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6160589" y="6704933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3" y="0"/>
                </a:lnTo>
                <a:lnTo>
                  <a:pt x="410023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t="0" r="-7954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946554" y="6605740"/>
            <a:ext cx="3536156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Penurunan kepercayaan publik</a:t>
            </a:r>
          </a:p>
        </p:txBody>
      </p:sp>
      <p:sp>
        <p:nvSpPr>
          <p:cNvPr name="Freeform 24" id="24" descr="preencoded.png"/>
          <p:cNvSpPr/>
          <p:nvPr/>
        </p:nvSpPr>
        <p:spPr>
          <a:xfrm flipH="false" flipV="false" rot="0">
            <a:off x="6160589" y="8091116"/>
            <a:ext cx="410023" cy="410023"/>
          </a:xfrm>
          <a:custGeom>
            <a:avLst/>
            <a:gdLst/>
            <a:ahLst/>
            <a:cxnLst/>
            <a:rect r="r" b="b" t="t" l="l"/>
            <a:pathLst>
              <a:path h="410023" w="410023">
                <a:moveTo>
                  <a:pt x="0" y="0"/>
                </a:moveTo>
                <a:lnTo>
                  <a:pt x="410023" y="0"/>
                </a:lnTo>
                <a:lnTo>
                  <a:pt x="410023" y="410023"/>
                </a:lnTo>
                <a:lnTo>
                  <a:pt x="0" y="410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54" t="0" r="-7954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6946554" y="7991923"/>
            <a:ext cx="3536156" cy="94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Gangguan operasional layanan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83879"/>
            <a:ext cx="3366935" cy="43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Kerangka Kerja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297334"/>
            <a:ext cx="10199189" cy="87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25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Metode Penelitian: Model PDCA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40846" y="2551509"/>
            <a:ext cx="14806165" cy="5804449"/>
            <a:chOff x="0" y="0"/>
            <a:chExt cx="19741553" cy="773926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741514" cy="7739253"/>
            </a:xfrm>
            <a:custGeom>
              <a:avLst/>
              <a:gdLst/>
              <a:ahLst/>
              <a:cxnLst/>
              <a:rect r="r" b="b" t="t" l="l"/>
              <a:pathLst>
                <a:path h="7739253" w="19741514">
                  <a:moveTo>
                    <a:pt x="0" y="0"/>
                  </a:moveTo>
                  <a:lnTo>
                    <a:pt x="19741514" y="0"/>
                  </a:lnTo>
                  <a:lnTo>
                    <a:pt x="19741514" y="7739253"/>
                  </a:lnTo>
                  <a:lnTo>
                    <a:pt x="0" y="7739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t="0" r="-17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095243" y="2826649"/>
            <a:ext cx="2710424" cy="88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Plan: Observasi &amp; Wawancara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81914" y="2826649"/>
            <a:ext cx="2710424" cy="44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Do: Kuesioner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81914" y="7190422"/>
            <a:ext cx="2710424" cy="880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Check: Analisis Fuzzy FMEA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5243" y="6754816"/>
            <a:ext cx="2710424" cy="131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4"/>
              </a:lnSpc>
            </a:pPr>
            <a:r>
              <a:rPr lang="en-US" sz="26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Action: Rekomendasi Perbaikan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8558060"/>
            <a:ext cx="16303523" cy="92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Data penelitian diperoleh melalui wawancara dan kuesioner yang melibatkan </a:t>
            </a:r>
            <a:r>
              <a:rPr lang="en-US" sz="2062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Kepala Dinas</a:t>
            </a:r>
            <a:r>
              <a:rPr lang="en-US" sz="2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62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Sekretaris</a:t>
            </a:r>
            <a:r>
              <a:rPr lang="en-US" sz="2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dan </a:t>
            </a:r>
            <a:r>
              <a:rPr lang="en-US" sz="2062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Kepala Bidang</a:t>
            </a:r>
            <a:r>
              <a:rPr lang="en-US" sz="2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sebagai narasumber utama yang memahami proses bisnis dan keamanan organisasi secara mendalam.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6043" y="389782"/>
            <a:ext cx="1771945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Analitik Risiko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043" y="62999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Metode Fuzzy FMEA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96043" y="1268311"/>
            <a:ext cx="8475021" cy="8475021"/>
            <a:chOff x="0" y="0"/>
            <a:chExt cx="11300028" cy="1130002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1300079" cy="11300079"/>
            </a:xfrm>
            <a:custGeom>
              <a:avLst/>
              <a:gdLst/>
              <a:ahLst/>
              <a:cxnLst/>
              <a:rect r="r" b="b" t="t" l="l"/>
              <a:pathLst>
                <a:path h="11300079" w="11300079">
                  <a:moveTo>
                    <a:pt x="0" y="0"/>
                  </a:moveTo>
                  <a:lnTo>
                    <a:pt x="11300079" y="0"/>
                  </a:lnTo>
                  <a:lnTo>
                    <a:pt x="11300079" y="11300079"/>
                  </a:lnTo>
                  <a:lnTo>
                    <a:pt x="0" y="113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96043" y="1268311"/>
            <a:ext cx="8475021" cy="8475021"/>
            <a:chOff x="0" y="0"/>
            <a:chExt cx="11300028" cy="1130002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300079" cy="11300079"/>
            </a:xfrm>
            <a:custGeom>
              <a:avLst/>
              <a:gdLst/>
              <a:ahLst/>
              <a:cxnLst/>
              <a:rect r="r" b="b" t="t" l="l"/>
              <a:pathLst>
                <a:path h="11300079" w="11300079">
                  <a:moveTo>
                    <a:pt x="0" y="0"/>
                  </a:moveTo>
                  <a:lnTo>
                    <a:pt x="11300079" y="0"/>
                  </a:lnTo>
                  <a:lnTo>
                    <a:pt x="11300079" y="11300079"/>
                  </a:lnTo>
                  <a:lnTo>
                    <a:pt x="0" y="113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326461" y="3284870"/>
            <a:ext cx="4367689" cy="474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3174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Mengapa Fuzzy FMEA?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26461" y="3935254"/>
            <a:ext cx="8475021" cy="887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18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Metode FMEA konvensional memiliki keterbatasan dalam menangani data yang tidak pasti atau bersifat linguistik. Integrasi logika </a:t>
            </a:r>
            <a:r>
              <a:rPr lang="en-US" sz="1862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Fuzzy</a:t>
            </a:r>
            <a:r>
              <a:rPr lang="en-US" sz="18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mengatasi hal ini melalui tiga tahapan: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6043" y="9893056"/>
            <a:ext cx="141684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BECE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96043" y="10124332"/>
            <a:ext cx="5717972" cy="19050"/>
            <a:chOff x="0" y="0"/>
            <a:chExt cx="7623962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3937" cy="25400"/>
            </a:xfrm>
            <a:custGeom>
              <a:avLst/>
              <a:gdLst/>
              <a:ahLst/>
              <a:cxnLst/>
              <a:rect r="r" b="b" t="t" l="l"/>
              <a:pathLst>
                <a:path h="25400" w="7623937">
                  <a:moveTo>
                    <a:pt x="0" y="0"/>
                  </a:moveTo>
                  <a:lnTo>
                    <a:pt x="7623937" y="0"/>
                  </a:lnTo>
                  <a:lnTo>
                    <a:pt x="762393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96043" y="10233269"/>
            <a:ext cx="1771945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Fuzzifikasi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6043" y="10478091"/>
            <a:ext cx="5717972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Konversi nilai numerik ke himpunan fuzzy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4862" y="9893056"/>
            <a:ext cx="141684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BECE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284862" y="10124332"/>
            <a:ext cx="5718124" cy="19050"/>
            <a:chOff x="0" y="0"/>
            <a:chExt cx="7624166" cy="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4191" cy="25400"/>
            </a:xfrm>
            <a:custGeom>
              <a:avLst/>
              <a:gdLst/>
              <a:ahLst/>
              <a:cxnLst/>
              <a:rect r="r" b="b" t="t" l="l"/>
              <a:pathLst>
                <a:path h="25400" w="7624191">
                  <a:moveTo>
                    <a:pt x="0" y="0"/>
                  </a:moveTo>
                  <a:lnTo>
                    <a:pt x="7624191" y="0"/>
                  </a:lnTo>
                  <a:lnTo>
                    <a:pt x="762419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284862" y="10233269"/>
            <a:ext cx="1771945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Inferensi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84862" y="10478091"/>
            <a:ext cx="5718124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Penerapan aturan fuzzy pada penilaian risiko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73833" y="9893056"/>
            <a:ext cx="141684" cy="186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BECEF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03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73833" y="10124332"/>
            <a:ext cx="5718124" cy="19050"/>
            <a:chOff x="0" y="0"/>
            <a:chExt cx="7624166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624191" cy="25400"/>
            </a:xfrm>
            <a:custGeom>
              <a:avLst/>
              <a:gdLst/>
              <a:ahLst/>
              <a:cxnLst/>
              <a:rect r="r" b="b" t="t" l="l"/>
              <a:pathLst>
                <a:path h="25400" w="7624191">
                  <a:moveTo>
                    <a:pt x="0" y="0"/>
                  </a:moveTo>
                  <a:lnTo>
                    <a:pt x="7624191" y="0"/>
                  </a:lnTo>
                  <a:lnTo>
                    <a:pt x="7624191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073833" y="10233269"/>
            <a:ext cx="1771945" cy="221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7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Defuzzifikasi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73833" y="10478091"/>
            <a:ext cx="5718124" cy="18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062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Konversi kembali ke nilai RPN yang terukur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844448"/>
            <a:ext cx="2835326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Penerapan Standar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261767"/>
            <a:ext cx="9361284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Implementasi ISO/IEC 27001:2013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2194922"/>
            <a:ext cx="9445523" cy="1046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Penelitian berfokus pada </a:t>
            </a:r>
            <a:r>
              <a:rPr lang="en-US" sz="1750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4 klausul utama</a:t>
            </a: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ISO/IEC 27001:2013 yang paling relevan dengan kondisi organisasi. Dari proses identifikasi, diperoleh total </a:t>
            </a:r>
            <a:r>
              <a:rPr lang="en-US" sz="1750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23 risiko valid</a:t>
            </a: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yang kemudian diproses menggunakan Fuzzy FMEA.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7951" y="3430934"/>
            <a:ext cx="9474098" cy="1389459"/>
            <a:chOff x="0" y="0"/>
            <a:chExt cx="12632131" cy="18526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9050" y="19050"/>
              <a:ext cx="12594082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594082">
                  <a:moveTo>
                    <a:pt x="0" y="127000"/>
                  </a:moveTo>
                  <a:cubicBezTo>
                    <a:pt x="0" y="56896"/>
                    <a:pt x="57912" y="0"/>
                    <a:pt x="129286" y="0"/>
                  </a:cubicBezTo>
                  <a:lnTo>
                    <a:pt x="12464796" y="0"/>
                  </a:lnTo>
                  <a:cubicBezTo>
                    <a:pt x="12536170" y="0"/>
                    <a:pt x="12594082" y="56896"/>
                    <a:pt x="12594082" y="127000"/>
                  </a:cubicBezTo>
                  <a:lnTo>
                    <a:pt x="12594082" y="1687449"/>
                  </a:lnTo>
                  <a:cubicBezTo>
                    <a:pt x="12594082" y="1757553"/>
                    <a:pt x="12536170" y="1814449"/>
                    <a:pt x="12464796" y="1814449"/>
                  </a:cubicBezTo>
                  <a:lnTo>
                    <a:pt x="129286" y="1814449"/>
                  </a:lnTo>
                  <a:cubicBezTo>
                    <a:pt x="57912" y="1814449"/>
                    <a:pt x="0" y="1757553"/>
                    <a:pt x="0" y="1687449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32182" cy="1852549"/>
            </a:xfrm>
            <a:custGeom>
              <a:avLst/>
              <a:gdLst/>
              <a:ahLst/>
              <a:cxnLst/>
              <a:rect r="r" b="b" t="t" l="l"/>
              <a:pathLst>
                <a:path h="1852549" w="12632182">
                  <a:moveTo>
                    <a:pt x="0" y="146050"/>
                  </a:moveTo>
                  <a:cubicBezTo>
                    <a:pt x="0" y="65024"/>
                    <a:pt x="66675" y="0"/>
                    <a:pt x="148336" y="0"/>
                  </a:cubicBezTo>
                  <a:lnTo>
                    <a:pt x="12483846" y="0"/>
                  </a:lnTo>
                  <a:lnTo>
                    <a:pt x="12483846" y="19050"/>
                  </a:lnTo>
                  <a:lnTo>
                    <a:pt x="12483846" y="0"/>
                  </a:lnTo>
                  <a:cubicBezTo>
                    <a:pt x="12565507" y="0"/>
                    <a:pt x="12632182" y="65024"/>
                    <a:pt x="12632182" y="146050"/>
                  </a:cubicBezTo>
                  <a:lnTo>
                    <a:pt x="12613132" y="146050"/>
                  </a:lnTo>
                  <a:lnTo>
                    <a:pt x="12632182" y="146050"/>
                  </a:lnTo>
                  <a:lnTo>
                    <a:pt x="12632182" y="1706499"/>
                  </a:lnTo>
                  <a:lnTo>
                    <a:pt x="12613132" y="1706499"/>
                  </a:lnTo>
                  <a:lnTo>
                    <a:pt x="12632182" y="1706499"/>
                  </a:lnTo>
                  <a:cubicBezTo>
                    <a:pt x="12632182" y="1787525"/>
                    <a:pt x="12565507" y="1852549"/>
                    <a:pt x="12483846" y="1852549"/>
                  </a:cubicBezTo>
                  <a:lnTo>
                    <a:pt x="12483846" y="1833499"/>
                  </a:lnTo>
                  <a:lnTo>
                    <a:pt x="12483846" y="1852549"/>
                  </a:lnTo>
                  <a:lnTo>
                    <a:pt x="148336" y="1852549"/>
                  </a:lnTo>
                  <a:lnTo>
                    <a:pt x="148336" y="1833499"/>
                  </a:lnTo>
                  <a:lnTo>
                    <a:pt x="148336" y="1852549"/>
                  </a:lnTo>
                  <a:cubicBezTo>
                    <a:pt x="66675" y="1852676"/>
                    <a:pt x="0" y="1787525"/>
                    <a:pt x="0" y="1706499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1706499"/>
                  </a:lnTo>
                  <a:lnTo>
                    <a:pt x="19050" y="1706499"/>
                  </a:lnTo>
                  <a:lnTo>
                    <a:pt x="38100" y="1706499"/>
                  </a:lnTo>
                  <a:cubicBezTo>
                    <a:pt x="38100" y="1765808"/>
                    <a:pt x="87122" y="1814449"/>
                    <a:pt x="148336" y="1814449"/>
                  </a:cubicBezTo>
                  <a:lnTo>
                    <a:pt x="12483846" y="1814449"/>
                  </a:lnTo>
                  <a:cubicBezTo>
                    <a:pt x="12545060" y="1814449"/>
                    <a:pt x="12594082" y="1765808"/>
                    <a:pt x="12594082" y="1706499"/>
                  </a:cubicBezTo>
                  <a:lnTo>
                    <a:pt x="12594082" y="146050"/>
                  </a:lnTo>
                  <a:cubicBezTo>
                    <a:pt x="12594082" y="86741"/>
                    <a:pt x="12545060" y="38100"/>
                    <a:pt x="12483846" y="38100"/>
                  </a:cubicBezTo>
                  <a:lnTo>
                    <a:pt x="148336" y="38100"/>
                  </a:lnTo>
                  <a:lnTo>
                    <a:pt x="148336" y="19050"/>
                  </a:lnTo>
                  <a:lnTo>
                    <a:pt x="148336" y="38100"/>
                  </a:lnTo>
                  <a:cubicBezTo>
                    <a:pt x="87122" y="38100"/>
                    <a:pt x="38100" y="86741"/>
                    <a:pt x="38100" y="146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0813" y="3473796"/>
            <a:ext cx="907256" cy="1303734"/>
            <a:chOff x="0" y="0"/>
            <a:chExt cx="1209675" cy="17383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9675" cy="1738249"/>
            </a:xfrm>
            <a:custGeom>
              <a:avLst/>
              <a:gdLst/>
              <a:ahLst/>
              <a:cxnLst/>
              <a:rect r="r" b="b" t="t" l="l"/>
              <a:pathLst>
                <a:path h="1738249" w="1209675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128395" y="0"/>
                  </a:lnTo>
                  <a:cubicBezTo>
                    <a:pt x="1173353" y="0"/>
                    <a:pt x="1209675" y="36449"/>
                    <a:pt x="1209675" y="81280"/>
                  </a:cubicBezTo>
                  <a:lnTo>
                    <a:pt x="1209675" y="1656969"/>
                  </a:lnTo>
                  <a:cubicBezTo>
                    <a:pt x="1209675" y="1701927"/>
                    <a:pt x="1173226" y="1738249"/>
                    <a:pt x="1128395" y="1738249"/>
                  </a:cubicBezTo>
                  <a:lnTo>
                    <a:pt x="81280" y="1738249"/>
                  </a:lnTo>
                  <a:cubicBezTo>
                    <a:pt x="36322" y="1738249"/>
                    <a:pt x="0" y="1701800"/>
                    <a:pt x="0" y="1656969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99572" y="3960609"/>
            <a:ext cx="340223" cy="3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62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09492" y="3691090"/>
            <a:ext cx="4307386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Kebijakan Keamanan Informasi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09492" y="4097093"/>
            <a:ext cx="807288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Penetapan kebijakan dan tata kelola keamanan organisasi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7951" y="4973241"/>
            <a:ext cx="9474098" cy="1389459"/>
            <a:chOff x="0" y="0"/>
            <a:chExt cx="12632131" cy="18526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9050" y="19050"/>
              <a:ext cx="12594082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594082">
                  <a:moveTo>
                    <a:pt x="0" y="127000"/>
                  </a:moveTo>
                  <a:cubicBezTo>
                    <a:pt x="0" y="56896"/>
                    <a:pt x="57912" y="0"/>
                    <a:pt x="129286" y="0"/>
                  </a:cubicBezTo>
                  <a:lnTo>
                    <a:pt x="12464796" y="0"/>
                  </a:lnTo>
                  <a:cubicBezTo>
                    <a:pt x="12536170" y="0"/>
                    <a:pt x="12594082" y="56896"/>
                    <a:pt x="12594082" y="127000"/>
                  </a:cubicBezTo>
                  <a:lnTo>
                    <a:pt x="12594082" y="1687449"/>
                  </a:lnTo>
                  <a:cubicBezTo>
                    <a:pt x="12594082" y="1757553"/>
                    <a:pt x="12536170" y="1814449"/>
                    <a:pt x="12464796" y="1814449"/>
                  </a:cubicBezTo>
                  <a:lnTo>
                    <a:pt x="129286" y="1814449"/>
                  </a:lnTo>
                  <a:cubicBezTo>
                    <a:pt x="57912" y="1814449"/>
                    <a:pt x="0" y="1757553"/>
                    <a:pt x="0" y="1687449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32182" cy="1852549"/>
            </a:xfrm>
            <a:custGeom>
              <a:avLst/>
              <a:gdLst/>
              <a:ahLst/>
              <a:cxnLst/>
              <a:rect r="r" b="b" t="t" l="l"/>
              <a:pathLst>
                <a:path h="1852549" w="12632182">
                  <a:moveTo>
                    <a:pt x="0" y="146050"/>
                  </a:moveTo>
                  <a:cubicBezTo>
                    <a:pt x="0" y="65024"/>
                    <a:pt x="66675" y="0"/>
                    <a:pt x="148336" y="0"/>
                  </a:cubicBezTo>
                  <a:lnTo>
                    <a:pt x="12483846" y="0"/>
                  </a:lnTo>
                  <a:lnTo>
                    <a:pt x="12483846" y="19050"/>
                  </a:lnTo>
                  <a:lnTo>
                    <a:pt x="12483846" y="0"/>
                  </a:lnTo>
                  <a:cubicBezTo>
                    <a:pt x="12565507" y="0"/>
                    <a:pt x="12632182" y="65024"/>
                    <a:pt x="12632182" y="146050"/>
                  </a:cubicBezTo>
                  <a:lnTo>
                    <a:pt x="12613132" y="146050"/>
                  </a:lnTo>
                  <a:lnTo>
                    <a:pt x="12632182" y="146050"/>
                  </a:lnTo>
                  <a:lnTo>
                    <a:pt x="12632182" y="1706499"/>
                  </a:lnTo>
                  <a:lnTo>
                    <a:pt x="12613132" y="1706499"/>
                  </a:lnTo>
                  <a:lnTo>
                    <a:pt x="12632182" y="1706499"/>
                  </a:lnTo>
                  <a:cubicBezTo>
                    <a:pt x="12632182" y="1787525"/>
                    <a:pt x="12565507" y="1852549"/>
                    <a:pt x="12483846" y="1852549"/>
                  </a:cubicBezTo>
                  <a:lnTo>
                    <a:pt x="12483846" y="1833499"/>
                  </a:lnTo>
                  <a:lnTo>
                    <a:pt x="12483846" y="1852549"/>
                  </a:lnTo>
                  <a:lnTo>
                    <a:pt x="148336" y="1852549"/>
                  </a:lnTo>
                  <a:lnTo>
                    <a:pt x="148336" y="1833499"/>
                  </a:lnTo>
                  <a:lnTo>
                    <a:pt x="148336" y="1852549"/>
                  </a:lnTo>
                  <a:cubicBezTo>
                    <a:pt x="66675" y="1852676"/>
                    <a:pt x="0" y="1787525"/>
                    <a:pt x="0" y="1706499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1706499"/>
                  </a:lnTo>
                  <a:lnTo>
                    <a:pt x="19050" y="1706499"/>
                  </a:lnTo>
                  <a:lnTo>
                    <a:pt x="38100" y="1706499"/>
                  </a:lnTo>
                  <a:cubicBezTo>
                    <a:pt x="38100" y="1765808"/>
                    <a:pt x="87122" y="1814449"/>
                    <a:pt x="148336" y="1814449"/>
                  </a:cubicBezTo>
                  <a:lnTo>
                    <a:pt x="12483846" y="1814449"/>
                  </a:lnTo>
                  <a:cubicBezTo>
                    <a:pt x="12545060" y="1814449"/>
                    <a:pt x="12594082" y="1765808"/>
                    <a:pt x="12594082" y="1706499"/>
                  </a:cubicBezTo>
                  <a:lnTo>
                    <a:pt x="12594082" y="146050"/>
                  </a:lnTo>
                  <a:cubicBezTo>
                    <a:pt x="12594082" y="86741"/>
                    <a:pt x="12545060" y="38100"/>
                    <a:pt x="12483846" y="38100"/>
                  </a:cubicBezTo>
                  <a:lnTo>
                    <a:pt x="148336" y="38100"/>
                  </a:lnTo>
                  <a:lnTo>
                    <a:pt x="148336" y="19050"/>
                  </a:lnTo>
                  <a:lnTo>
                    <a:pt x="148336" y="38100"/>
                  </a:lnTo>
                  <a:cubicBezTo>
                    <a:pt x="87122" y="38100"/>
                    <a:pt x="38100" y="86741"/>
                    <a:pt x="38100" y="146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0813" y="5016103"/>
            <a:ext cx="907256" cy="1303734"/>
            <a:chOff x="0" y="0"/>
            <a:chExt cx="1209675" cy="17383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09675" cy="1738249"/>
            </a:xfrm>
            <a:custGeom>
              <a:avLst/>
              <a:gdLst/>
              <a:ahLst/>
              <a:cxnLst/>
              <a:rect r="r" b="b" t="t" l="l"/>
              <a:pathLst>
                <a:path h="1738249" w="1209675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128395" y="0"/>
                  </a:lnTo>
                  <a:cubicBezTo>
                    <a:pt x="1173353" y="0"/>
                    <a:pt x="1209675" y="36449"/>
                    <a:pt x="1209675" y="81280"/>
                  </a:cubicBezTo>
                  <a:lnTo>
                    <a:pt x="1209675" y="1656969"/>
                  </a:lnTo>
                  <a:cubicBezTo>
                    <a:pt x="1209675" y="1701927"/>
                    <a:pt x="1173226" y="1738249"/>
                    <a:pt x="1128395" y="1738249"/>
                  </a:cubicBezTo>
                  <a:lnTo>
                    <a:pt x="81280" y="1738249"/>
                  </a:lnTo>
                  <a:cubicBezTo>
                    <a:pt x="36322" y="1738249"/>
                    <a:pt x="0" y="1701800"/>
                    <a:pt x="0" y="1656969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99572" y="5502916"/>
            <a:ext cx="340223" cy="3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62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09492" y="5233397"/>
            <a:ext cx="4386110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Organisasi Keamanan Informasi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09492" y="5639391"/>
            <a:ext cx="807288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Struktur tanggung jawab dan wewenang keamanan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7951" y="6515548"/>
            <a:ext cx="9474098" cy="1389459"/>
            <a:chOff x="0" y="0"/>
            <a:chExt cx="12632131" cy="185261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9050" y="19050"/>
              <a:ext cx="12594082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594082">
                  <a:moveTo>
                    <a:pt x="0" y="127000"/>
                  </a:moveTo>
                  <a:cubicBezTo>
                    <a:pt x="0" y="56896"/>
                    <a:pt x="57912" y="0"/>
                    <a:pt x="129286" y="0"/>
                  </a:cubicBezTo>
                  <a:lnTo>
                    <a:pt x="12464796" y="0"/>
                  </a:lnTo>
                  <a:cubicBezTo>
                    <a:pt x="12536170" y="0"/>
                    <a:pt x="12594082" y="56896"/>
                    <a:pt x="12594082" y="127000"/>
                  </a:cubicBezTo>
                  <a:lnTo>
                    <a:pt x="12594082" y="1687449"/>
                  </a:lnTo>
                  <a:cubicBezTo>
                    <a:pt x="12594082" y="1757553"/>
                    <a:pt x="12536170" y="1814449"/>
                    <a:pt x="12464796" y="1814449"/>
                  </a:cubicBezTo>
                  <a:lnTo>
                    <a:pt x="129286" y="1814449"/>
                  </a:lnTo>
                  <a:cubicBezTo>
                    <a:pt x="57912" y="1814449"/>
                    <a:pt x="0" y="1757553"/>
                    <a:pt x="0" y="1687449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632182" cy="1852549"/>
            </a:xfrm>
            <a:custGeom>
              <a:avLst/>
              <a:gdLst/>
              <a:ahLst/>
              <a:cxnLst/>
              <a:rect r="r" b="b" t="t" l="l"/>
              <a:pathLst>
                <a:path h="1852549" w="12632182">
                  <a:moveTo>
                    <a:pt x="0" y="146050"/>
                  </a:moveTo>
                  <a:cubicBezTo>
                    <a:pt x="0" y="65024"/>
                    <a:pt x="66675" y="0"/>
                    <a:pt x="148336" y="0"/>
                  </a:cubicBezTo>
                  <a:lnTo>
                    <a:pt x="12483846" y="0"/>
                  </a:lnTo>
                  <a:lnTo>
                    <a:pt x="12483846" y="19050"/>
                  </a:lnTo>
                  <a:lnTo>
                    <a:pt x="12483846" y="0"/>
                  </a:lnTo>
                  <a:cubicBezTo>
                    <a:pt x="12565507" y="0"/>
                    <a:pt x="12632182" y="65024"/>
                    <a:pt x="12632182" y="146050"/>
                  </a:cubicBezTo>
                  <a:lnTo>
                    <a:pt x="12613132" y="146050"/>
                  </a:lnTo>
                  <a:lnTo>
                    <a:pt x="12632182" y="146050"/>
                  </a:lnTo>
                  <a:lnTo>
                    <a:pt x="12632182" y="1706499"/>
                  </a:lnTo>
                  <a:lnTo>
                    <a:pt x="12613132" y="1706499"/>
                  </a:lnTo>
                  <a:lnTo>
                    <a:pt x="12632182" y="1706499"/>
                  </a:lnTo>
                  <a:cubicBezTo>
                    <a:pt x="12632182" y="1787525"/>
                    <a:pt x="12565507" y="1852549"/>
                    <a:pt x="12483846" y="1852549"/>
                  </a:cubicBezTo>
                  <a:lnTo>
                    <a:pt x="12483846" y="1833499"/>
                  </a:lnTo>
                  <a:lnTo>
                    <a:pt x="12483846" y="1852549"/>
                  </a:lnTo>
                  <a:lnTo>
                    <a:pt x="148336" y="1852549"/>
                  </a:lnTo>
                  <a:lnTo>
                    <a:pt x="148336" y="1833499"/>
                  </a:lnTo>
                  <a:lnTo>
                    <a:pt x="148336" y="1852549"/>
                  </a:lnTo>
                  <a:cubicBezTo>
                    <a:pt x="66675" y="1852676"/>
                    <a:pt x="0" y="1787525"/>
                    <a:pt x="0" y="1706499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1706499"/>
                  </a:lnTo>
                  <a:lnTo>
                    <a:pt x="19050" y="1706499"/>
                  </a:lnTo>
                  <a:lnTo>
                    <a:pt x="38100" y="1706499"/>
                  </a:lnTo>
                  <a:cubicBezTo>
                    <a:pt x="38100" y="1765808"/>
                    <a:pt x="87122" y="1814449"/>
                    <a:pt x="148336" y="1814449"/>
                  </a:cubicBezTo>
                  <a:lnTo>
                    <a:pt x="12483846" y="1814449"/>
                  </a:lnTo>
                  <a:cubicBezTo>
                    <a:pt x="12545060" y="1814449"/>
                    <a:pt x="12594082" y="1765808"/>
                    <a:pt x="12594082" y="1706499"/>
                  </a:cubicBezTo>
                  <a:lnTo>
                    <a:pt x="12594082" y="146050"/>
                  </a:lnTo>
                  <a:cubicBezTo>
                    <a:pt x="12594082" y="86741"/>
                    <a:pt x="12545060" y="38100"/>
                    <a:pt x="12483846" y="38100"/>
                  </a:cubicBezTo>
                  <a:lnTo>
                    <a:pt x="148336" y="38100"/>
                  </a:lnTo>
                  <a:lnTo>
                    <a:pt x="148336" y="19050"/>
                  </a:lnTo>
                  <a:lnTo>
                    <a:pt x="148336" y="38100"/>
                  </a:lnTo>
                  <a:cubicBezTo>
                    <a:pt x="87122" y="38100"/>
                    <a:pt x="38100" y="86741"/>
                    <a:pt x="38100" y="146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0813" y="6558410"/>
            <a:ext cx="907256" cy="1303734"/>
            <a:chOff x="0" y="0"/>
            <a:chExt cx="1209675" cy="173831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9675" cy="1738249"/>
            </a:xfrm>
            <a:custGeom>
              <a:avLst/>
              <a:gdLst/>
              <a:ahLst/>
              <a:cxnLst/>
              <a:rect r="r" b="b" t="t" l="l"/>
              <a:pathLst>
                <a:path h="1738249" w="1209675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128395" y="0"/>
                  </a:lnTo>
                  <a:cubicBezTo>
                    <a:pt x="1173353" y="0"/>
                    <a:pt x="1209675" y="36449"/>
                    <a:pt x="1209675" y="81280"/>
                  </a:cubicBezTo>
                  <a:lnTo>
                    <a:pt x="1209675" y="1656969"/>
                  </a:lnTo>
                  <a:cubicBezTo>
                    <a:pt x="1209675" y="1701927"/>
                    <a:pt x="1173226" y="1738249"/>
                    <a:pt x="1128395" y="1738249"/>
                  </a:cubicBezTo>
                  <a:lnTo>
                    <a:pt x="81280" y="1738249"/>
                  </a:lnTo>
                  <a:cubicBezTo>
                    <a:pt x="36322" y="1738249"/>
                    <a:pt x="0" y="1701800"/>
                    <a:pt x="0" y="1656969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99572" y="7045223"/>
            <a:ext cx="340223" cy="3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62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09492" y="6775694"/>
            <a:ext cx="4549226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Keamanan Sumber Daya Manusia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09492" y="7181698"/>
            <a:ext cx="807288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Manajemen risiko SDM sebelum, selama, dan setelah kerja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77951" y="8057855"/>
            <a:ext cx="9474098" cy="1389459"/>
            <a:chOff x="0" y="0"/>
            <a:chExt cx="12632131" cy="18526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9050" y="19050"/>
              <a:ext cx="12594082" cy="1814449"/>
            </a:xfrm>
            <a:custGeom>
              <a:avLst/>
              <a:gdLst/>
              <a:ahLst/>
              <a:cxnLst/>
              <a:rect r="r" b="b" t="t" l="l"/>
              <a:pathLst>
                <a:path h="1814449" w="12594082">
                  <a:moveTo>
                    <a:pt x="0" y="127000"/>
                  </a:moveTo>
                  <a:cubicBezTo>
                    <a:pt x="0" y="56896"/>
                    <a:pt x="57912" y="0"/>
                    <a:pt x="129286" y="0"/>
                  </a:cubicBezTo>
                  <a:lnTo>
                    <a:pt x="12464796" y="0"/>
                  </a:lnTo>
                  <a:cubicBezTo>
                    <a:pt x="12536170" y="0"/>
                    <a:pt x="12594082" y="56896"/>
                    <a:pt x="12594082" y="127000"/>
                  </a:cubicBezTo>
                  <a:lnTo>
                    <a:pt x="12594082" y="1687449"/>
                  </a:lnTo>
                  <a:cubicBezTo>
                    <a:pt x="12594082" y="1757553"/>
                    <a:pt x="12536170" y="1814449"/>
                    <a:pt x="12464796" y="1814449"/>
                  </a:cubicBezTo>
                  <a:lnTo>
                    <a:pt x="129286" y="1814449"/>
                  </a:lnTo>
                  <a:cubicBezTo>
                    <a:pt x="57912" y="1814449"/>
                    <a:pt x="0" y="1757553"/>
                    <a:pt x="0" y="1687449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32182" cy="1852549"/>
            </a:xfrm>
            <a:custGeom>
              <a:avLst/>
              <a:gdLst/>
              <a:ahLst/>
              <a:cxnLst/>
              <a:rect r="r" b="b" t="t" l="l"/>
              <a:pathLst>
                <a:path h="1852549" w="12632182">
                  <a:moveTo>
                    <a:pt x="0" y="146050"/>
                  </a:moveTo>
                  <a:cubicBezTo>
                    <a:pt x="0" y="65024"/>
                    <a:pt x="66675" y="0"/>
                    <a:pt x="148336" y="0"/>
                  </a:cubicBezTo>
                  <a:lnTo>
                    <a:pt x="12483846" y="0"/>
                  </a:lnTo>
                  <a:lnTo>
                    <a:pt x="12483846" y="19050"/>
                  </a:lnTo>
                  <a:lnTo>
                    <a:pt x="12483846" y="0"/>
                  </a:lnTo>
                  <a:cubicBezTo>
                    <a:pt x="12565507" y="0"/>
                    <a:pt x="12632182" y="65024"/>
                    <a:pt x="12632182" y="146050"/>
                  </a:cubicBezTo>
                  <a:lnTo>
                    <a:pt x="12613132" y="146050"/>
                  </a:lnTo>
                  <a:lnTo>
                    <a:pt x="12632182" y="146050"/>
                  </a:lnTo>
                  <a:lnTo>
                    <a:pt x="12632182" y="1706499"/>
                  </a:lnTo>
                  <a:lnTo>
                    <a:pt x="12613132" y="1706499"/>
                  </a:lnTo>
                  <a:lnTo>
                    <a:pt x="12632182" y="1706499"/>
                  </a:lnTo>
                  <a:cubicBezTo>
                    <a:pt x="12632182" y="1787525"/>
                    <a:pt x="12565507" y="1852549"/>
                    <a:pt x="12483846" y="1852549"/>
                  </a:cubicBezTo>
                  <a:lnTo>
                    <a:pt x="12483846" y="1833499"/>
                  </a:lnTo>
                  <a:lnTo>
                    <a:pt x="12483846" y="1852549"/>
                  </a:lnTo>
                  <a:lnTo>
                    <a:pt x="148336" y="1852549"/>
                  </a:lnTo>
                  <a:lnTo>
                    <a:pt x="148336" y="1833499"/>
                  </a:lnTo>
                  <a:lnTo>
                    <a:pt x="148336" y="1852549"/>
                  </a:lnTo>
                  <a:cubicBezTo>
                    <a:pt x="66675" y="1852676"/>
                    <a:pt x="0" y="1787525"/>
                    <a:pt x="0" y="1706499"/>
                  </a:cubicBezTo>
                  <a:lnTo>
                    <a:pt x="0" y="146050"/>
                  </a:lnTo>
                  <a:lnTo>
                    <a:pt x="19050" y="146050"/>
                  </a:lnTo>
                  <a:lnTo>
                    <a:pt x="0" y="146050"/>
                  </a:lnTo>
                  <a:moveTo>
                    <a:pt x="38100" y="146050"/>
                  </a:moveTo>
                  <a:lnTo>
                    <a:pt x="38100" y="1706499"/>
                  </a:lnTo>
                  <a:lnTo>
                    <a:pt x="19050" y="1706499"/>
                  </a:lnTo>
                  <a:lnTo>
                    <a:pt x="38100" y="1706499"/>
                  </a:lnTo>
                  <a:cubicBezTo>
                    <a:pt x="38100" y="1765808"/>
                    <a:pt x="87122" y="1814449"/>
                    <a:pt x="148336" y="1814449"/>
                  </a:cubicBezTo>
                  <a:lnTo>
                    <a:pt x="12483846" y="1814449"/>
                  </a:lnTo>
                  <a:cubicBezTo>
                    <a:pt x="12545060" y="1814449"/>
                    <a:pt x="12594082" y="1765808"/>
                    <a:pt x="12594082" y="1706499"/>
                  </a:cubicBezTo>
                  <a:lnTo>
                    <a:pt x="12594082" y="146050"/>
                  </a:lnTo>
                  <a:cubicBezTo>
                    <a:pt x="12594082" y="86741"/>
                    <a:pt x="12545060" y="38100"/>
                    <a:pt x="12483846" y="38100"/>
                  </a:cubicBezTo>
                  <a:lnTo>
                    <a:pt x="148336" y="38100"/>
                  </a:lnTo>
                  <a:lnTo>
                    <a:pt x="148336" y="19050"/>
                  </a:lnTo>
                  <a:lnTo>
                    <a:pt x="148336" y="38100"/>
                  </a:lnTo>
                  <a:cubicBezTo>
                    <a:pt x="87122" y="38100"/>
                    <a:pt x="38100" y="86741"/>
                    <a:pt x="38100" y="14605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0813" y="8100717"/>
            <a:ext cx="907256" cy="1303734"/>
            <a:chOff x="0" y="0"/>
            <a:chExt cx="1209675" cy="17383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09675" cy="1738249"/>
            </a:xfrm>
            <a:custGeom>
              <a:avLst/>
              <a:gdLst/>
              <a:ahLst/>
              <a:cxnLst/>
              <a:rect r="r" b="b" t="t" l="l"/>
              <a:pathLst>
                <a:path h="1738249" w="1209675">
                  <a:moveTo>
                    <a:pt x="0" y="81280"/>
                  </a:moveTo>
                  <a:cubicBezTo>
                    <a:pt x="0" y="36449"/>
                    <a:pt x="36449" y="0"/>
                    <a:pt x="81280" y="0"/>
                  </a:cubicBezTo>
                  <a:lnTo>
                    <a:pt x="1128395" y="0"/>
                  </a:lnTo>
                  <a:cubicBezTo>
                    <a:pt x="1173353" y="0"/>
                    <a:pt x="1209675" y="36449"/>
                    <a:pt x="1209675" y="81280"/>
                  </a:cubicBezTo>
                  <a:lnTo>
                    <a:pt x="1209675" y="1656969"/>
                  </a:lnTo>
                  <a:cubicBezTo>
                    <a:pt x="1209675" y="1701927"/>
                    <a:pt x="1173226" y="1738249"/>
                    <a:pt x="1128395" y="1738249"/>
                  </a:cubicBezTo>
                  <a:lnTo>
                    <a:pt x="81280" y="1738249"/>
                  </a:lnTo>
                  <a:cubicBezTo>
                    <a:pt x="36322" y="1738249"/>
                    <a:pt x="0" y="1701800"/>
                    <a:pt x="0" y="1656969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99572" y="8587530"/>
            <a:ext cx="340223" cy="37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625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09492" y="8318002"/>
            <a:ext cx="2835326" cy="36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2187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Manajemen Aset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109492" y="8724005"/>
            <a:ext cx="8072885" cy="39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75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Inventarisasi dan pengelolaan aset informasi secara sistematis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8666" y="775249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Temuan &amp; Analisis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8666" y="1244356"/>
            <a:ext cx="8825503" cy="823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Pembahasan Hasil Penelitian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8666" y="2627557"/>
            <a:ext cx="430188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Kelemahan yang Ditemukan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4379" y="3276305"/>
            <a:ext cx="7873756" cy="1990277"/>
            <a:chOff x="0" y="0"/>
            <a:chExt cx="10498341" cy="26537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10460228" cy="2615565"/>
            </a:xfrm>
            <a:custGeom>
              <a:avLst/>
              <a:gdLst/>
              <a:ahLst/>
              <a:cxnLst/>
              <a:rect r="r" b="b" t="t" l="l"/>
              <a:pathLst>
                <a:path h="2615565" w="10460228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275316" y="0"/>
                  </a:lnTo>
                  <a:cubicBezTo>
                    <a:pt x="10377424" y="0"/>
                    <a:pt x="10460228" y="81915"/>
                    <a:pt x="10460228" y="182880"/>
                  </a:cubicBezTo>
                  <a:lnTo>
                    <a:pt x="10460228" y="2432685"/>
                  </a:lnTo>
                  <a:cubicBezTo>
                    <a:pt x="10460228" y="2533650"/>
                    <a:pt x="10377424" y="2615565"/>
                    <a:pt x="10275316" y="2615565"/>
                  </a:cubicBezTo>
                  <a:lnTo>
                    <a:pt x="184912" y="2615565"/>
                  </a:lnTo>
                  <a:cubicBezTo>
                    <a:pt x="82804" y="2615565"/>
                    <a:pt x="0" y="2533650"/>
                    <a:pt x="0" y="2432685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8328" cy="2653665"/>
            </a:xfrm>
            <a:custGeom>
              <a:avLst/>
              <a:gdLst/>
              <a:ahLst/>
              <a:cxnLst/>
              <a:rect r="r" b="b" t="t" l="l"/>
              <a:pathLst>
                <a:path h="2653665" w="10498328">
                  <a:moveTo>
                    <a:pt x="0" y="201930"/>
                  </a:moveTo>
                  <a:cubicBezTo>
                    <a:pt x="0" y="90170"/>
                    <a:pt x="91440" y="0"/>
                    <a:pt x="203962" y="0"/>
                  </a:cubicBezTo>
                  <a:lnTo>
                    <a:pt x="10294366" y="0"/>
                  </a:lnTo>
                  <a:lnTo>
                    <a:pt x="10294366" y="19050"/>
                  </a:lnTo>
                  <a:lnTo>
                    <a:pt x="10294366" y="0"/>
                  </a:lnTo>
                  <a:cubicBezTo>
                    <a:pt x="10406761" y="0"/>
                    <a:pt x="10498328" y="90170"/>
                    <a:pt x="10498328" y="201930"/>
                  </a:cubicBezTo>
                  <a:lnTo>
                    <a:pt x="10479278" y="201930"/>
                  </a:lnTo>
                  <a:lnTo>
                    <a:pt x="10498328" y="201930"/>
                  </a:lnTo>
                  <a:lnTo>
                    <a:pt x="10498328" y="2451735"/>
                  </a:lnTo>
                  <a:lnTo>
                    <a:pt x="10479278" y="2451735"/>
                  </a:lnTo>
                  <a:lnTo>
                    <a:pt x="10498328" y="2451735"/>
                  </a:lnTo>
                  <a:cubicBezTo>
                    <a:pt x="10498328" y="2563495"/>
                    <a:pt x="10406888" y="2653665"/>
                    <a:pt x="10294366" y="2653665"/>
                  </a:cubicBezTo>
                  <a:lnTo>
                    <a:pt x="10294366" y="2634615"/>
                  </a:lnTo>
                  <a:lnTo>
                    <a:pt x="10294366" y="2653665"/>
                  </a:lnTo>
                  <a:lnTo>
                    <a:pt x="203962" y="2653665"/>
                  </a:lnTo>
                  <a:lnTo>
                    <a:pt x="203962" y="2634615"/>
                  </a:lnTo>
                  <a:lnTo>
                    <a:pt x="203962" y="2653665"/>
                  </a:lnTo>
                  <a:cubicBezTo>
                    <a:pt x="91440" y="2653665"/>
                    <a:pt x="0" y="2563495"/>
                    <a:pt x="0" y="245173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51735"/>
                  </a:lnTo>
                  <a:lnTo>
                    <a:pt x="19050" y="2451735"/>
                  </a:lnTo>
                  <a:lnTo>
                    <a:pt x="38100" y="2451735"/>
                  </a:lnTo>
                  <a:cubicBezTo>
                    <a:pt x="38100" y="2542032"/>
                    <a:pt x="112141" y="2615565"/>
                    <a:pt x="203962" y="2615565"/>
                  </a:cubicBezTo>
                  <a:lnTo>
                    <a:pt x="10294366" y="2615565"/>
                  </a:lnTo>
                  <a:cubicBezTo>
                    <a:pt x="10386187" y="2615565"/>
                    <a:pt x="10460228" y="2542032"/>
                    <a:pt x="10460228" y="2451735"/>
                  </a:cubicBezTo>
                  <a:lnTo>
                    <a:pt x="10460228" y="201930"/>
                  </a:lnTo>
                  <a:cubicBezTo>
                    <a:pt x="10460228" y="111633"/>
                    <a:pt x="10386187" y="38100"/>
                    <a:pt x="10294366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091" y="3290592"/>
            <a:ext cx="114300" cy="1961702"/>
            <a:chOff x="0" y="0"/>
            <a:chExt cx="152400" cy="26156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" cy="2615565"/>
            </a:xfrm>
            <a:custGeom>
              <a:avLst/>
              <a:gdLst/>
              <a:ahLst/>
              <a:cxnLst/>
              <a:rect r="r" b="b" t="t" l="l"/>
              <a:pathLst>
                <a:path h="2615565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39365"/>
                  </a:lnTo>
                  <a:cubicBezTo>
                    <a:pt x="152400" y="2581402"/>
                    <a:pt x="118237" y="2615565"/>
                    <a:pt x="76200" y="2615565"/>
                  </a:cubicBezTo>
                  <a:cubicBezTo>
                    <a:pt x="34163" y="2615565"/>
                    <a:pt x="0" y="2581402"/>
                    <a:pt x="0" y="2539365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57160" y="3563836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Kebijakan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7160" y="4131621"/>
            <a:ext cx="7193909" cy="83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Kebijakan keamanan belum diterapkan secara formal dan konsisten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4379" y="5465864"/>
            <a:ext cx="7873756" cy="1990277"/>
            <a:chOff x="0" y="0"/>
            <a:chExt cx="10498341" cy="26537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9050" y="19050"/>
              <a:ext cx="10460228" cy="2615565"/>
            </a:xfrm>
            <a:custGeom>
              <a:avLst/>
              <a:gdLst/>
              <a:ahLst/>
              <a:cxnLst/>
              <a:rect r="r" b="b" t="t" l="l"/>
              <a:pathLst>
                <a:path h="2615565" w="10460228">
                  <a:moveTo>
                    <a:pt x="0" y="182880"/>
                  </a:moveTo>
                  <a:cubicBezTo>
                    <a:pt x="0" y="81915"/>
                    <a:pt x="82804" y="0"/>
                    <a:pt x="184912" y="0"/>
                  </a:cubicBezTo>
                  <a:lnTo>
                    <a:pt x="10275316" y="0"/>
                  </a:lnTo>
                  <a:cubicBezTo>
                    <a:pt x="10377424" y="0"/>
                    <a:pt x="10460228" y="81915"/>
                    <a:pt x="10460228" y="182880"/>
                  </a:cubicBezTo>
                  <a:lnTo>
                    <a:pt x="10460228" y="2432685"/>
                  </a:lnTo>
                  <a:cubicBezTo>
                    <a:pt x="10460228" y="2533650"/>
                    <a:pt x="10377424" y="2615565"/>
                    <a:pt x="10275316" y="2615565"/>
                  </a:cubicBezTo>
                  <a:lnTo>
                    <a:pt x="184912" y="2615565"/>
                  </a:lnTo>
                  <a:cubicBezTo>
                    <a:pt x="82804" y="2615565"/>
                    <a:pt x="0" y="2533650"/>
                    <a:pt x="0" y="2432685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98328" cy="2653665"/>
            </a:xfrm>
            <a:custGeom>
              <a:avLst/>
              <a:gdLst/>
              <a:ahLst/>
              <a:cxnLst/>
              <a:rect r="r" b="b" t="t" l="l"/>
              <a:pathLst>
                <a:path h="2653665" w="10498328">
                  <a:moveTo>
                    <a:pt x="0" y="201930"/>
                  </a:moveTo>
                  <a:cubicBezTo>
                    <a:pt x="0" y="90170"/>
                    <a:pt x="91440" y="0"/>
                    <a:pt x="203962" y="0"/>
                  </a:cubicBezTo>
                  <a:lnTo>
                    <a:pt x="10294366" y="0"/>
                  </a:lnTo>
                  <a:lnTo>
                    <a:pt x="10294366" y="19050"/>
                  </a:lnTo>
                  <a:lnTo>
                    <a:pt x="10294366" y="0"/>
                  </a:lnTo>
                  <a:cubicBezTo>
                    <a:pt x="10406761" y="0"/>
                    <a:pt x="10498328" y="90170"/>
                    <a:pt x="10498328" y="201930"/>
                  </a:cubicBezTo>
                  <a:lnTo>
                    <a:pt x="10479278" y="201930"/>
                  </a:lnTo>
                  <a:lnTo>
                    <a:pt x="10498328" y="201930"/>
                  </a:lnTo>
                  <a:lnTo>
                    <a:pt x="10498328" y="2451735"/>
                  </a:lnTo>
                  <a:lnTo>
                    <a:pt x="10479278" y="2451735"/>
                  </a:lnTo>
                  <a:lnTo>
                    <a:pt x="10498328" y="2451735"/>
                  </a:lnTo>
                  <a:cubicBezTo>
                    <a:pt x="10498328" y="2563495"/>
                    <a:pt x="10406888" y="2653665"/>
                    <a:pt x="10294366" y="2653665"/>
                  </a:cubicBezTo>
                  <a:lnTo>
                    <a:pt x="10294366" y="2634615"/>
                  </a:lnTo>
                  <a:lnTo>
                    <a:pt x="10294366" y="2653665"/>
                  </a:lnTo>
                  <a:lnTo>
                    <a:pt x="203962" y="2653665"/>
                  </a:lnTo>
                  <a:lnTo>
                    <a:pt x="203962" y="2634615"/>
                  </a:lnTo>
                  <a:lnTo>
                    <a:pt x="203962" y="2653665"/>
                  </a:lnTo>
                  <a:cubicBezTo>
                    <a:pt x="91440" y="2653665"/>
                    <a:pt x="0" y="2563495"/>
                    <a:pt x="0" y="2451735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2451735"/>
                  </a:lnTo>
                  <a:lnTo>
                    <a:pt x="19050" y="2451735"/>
                  </a:lnTo>
                  <a:lnTo>
                    <a:pt x="38100" y="2451735"/>
                  </a:lnTo>
                  <a:cubicBezTo>
                    <a:pt x="38100" y="2542032"/>
                    <a:pt x="112141" y="2615565"/>
                    <a:pt x="203962" y="2615565"/>
                  </a:cubicBezTo>
                  <a:lnTo>
                    <a:pt x="10294366" y="2615565"/>
                  </a:lnTo>
                  <a:cubicBezTo>
                    <a:pt x="10386187" y="2615565"/>
                    <a:pt x="10460228" y="2542032"/>
                    <a:pt x="10460228" y="2451735"/>
                  </a:cubicBezTo>
                  <a:lnTo>
                    <a:pt x="10460228" y="201930"/>
                  </a:lnTo>
                  <a:cubicBezTo>
                    <a:pt x="10460228" y="111633"/>
                    <a:pt x="10386187" y="38100"/>
                    <a:pt x="10294366" y="38100"/>
                  </a:cubicBezTo>
                  <a:lnTo>
                    <a:pt x="203962" y="38100"/>
                  </a:lnTo>
                  <a:lnTo>
                    <a:pt x="203962" y="19050"/>
                  </a:lnTo>
                  <a:lnTo>
                    <a:pt x="203962" y="38100"/>
                  </a:lnTo>
                  <a:cubicBezTo>
                    <a:pt x="112141" y="38100"/>
                    <a:pt x="38100" y="111633"/>
                    <a:pt x="38100" y="20193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091" y="5480152"/>
            <a:ext cx="114300" cy="1961702"/>
            <a:chOff x="0" y="0"/>
            <a:chExt cx="152400" cy="26156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" cy="2615565"/>
            </a:xfrm>
            <a:custGeom>
              <a:avLst/>
              <a:gdLst/>
              <a:ahLst/>
              <a:cxnLst/>
              <a:rect r="r" b="b" t="t" l="l"/>
              <a:pathLst>
                <a:path h="2615565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539365"/>
                  </a:lnTo>
                  <a:cubicBezTo>
                    <a:pt x="152400" y="2581402"/>
                    <a:pt x="118237" y="2615565"/>
                    <a:pt x="76200" y="2615565"/>
                  </a:cubicBezTo>
                  <a:cubicBezTo>
                    <a:pt x="34163" y="2615565"/>
                    <a:pt x="0" y="2581402"/>
                    <a:pt x="0" y="2539365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57160" y="5753395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Pelatihan SDM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7160" y="6321181"/>
            <a:ext cx="7193909" cy="83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Kurangnya pelatihan dan kesadaran keamanan bagi pegawai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74379" y="7655423"/>
            <a:ext cx="7873756" cy="1604667"/>
            <a:chOff x="0" y="0"/>
            <a:chExt cx="10498341" cy="2139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10460228" cy="2101469"/>
            </a:xfrm>
            <a:custGeom>
              <a:avLst/>
              <a:gdLst/>
              <a:ahLst/>
              <a:cxnLst/>
              <a:rect r="r" b="b" t="t" l="l"/>
              <a:pathLst>
                <a:path h="2101469" w="10460228">
                  <a:moveTo>
                    <a:pt x="0" y="182880"/>
                  </a:moveTo>
                  <a:cubicBezTo>
                    <a:pt x="0" y="81915"/>
                    <a:pt x="83058" y="0"/>
                    <a:pt x="185547" y="0"/>
                  </a:cubicBezTo>
                  <a:lnTo>
                    <a:pt x="10274681" y="0"/>
                  </a:lnTo>
                  <a:cubicBezTo>
                    <a:pt x="10377170" y="0"/>
                    <a:pt x="10460228" y="81915"/>
                    <a:pt x="10460228" y="182880"/>
                  </a:cubicBezTo>
                  <a:lnTo>
                    <a:pt x="10460228" y="1918589"/>
                  </a:lnTo>
                  <a:cubicBezTo>
                    <a:pt x="10460228" y="2019554"/>
                    <a:pt x="10377170" y="2101469"/>
                    <a:pt x="10274681" y="2101469"/>
                  </a:cubicBezTo>
                  <a:lnTo>
                    <a:pt x="185547" y="2101469"/>
                  </a:lnTo>
                  <a:cubicBezTo>
                    <a:pt x="83058" y="2101469"/>
                    <a:pt x="0" y="2019554"/>
                    <a:pt x="0" y="1918589"/>
                  </a:cubicBezTo>
                  <a:close/>
                </a:path>
              </a:pathLst>
            </a:custGeom>
            <a:solidFill>
              <a:srgbClr val="080E26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98328" cy="2139569"/>
            </a:xfrm>
            <a:custGeom>
              <a:avLst/>
              <a:gdLst/>
              <a:ahLst/>
              <a:cxnLst/>
              <a:rect r="r" b="b" t="t" l="l"/>
              <a:pathLst>
                <a:path h="2139569" w="10498328">
                  <a:moveTo>
                    <a:pt x="0" y="201930"/>
                  </a:moveTo>
                  <a:cubicBezTo>
                    <a:pt x="0" y="90170"/>
                    <a:pt x="91821" y="0"/>
                    <a:pt x="204597" y="0"/>
                  </a:cubicBezTo>
                  <a:lnTo>
                    <a:pt x="10293731" y="0"/>
                  </a:lnTo>
                  <a:lnTo>
                    <a:pt x="10293731" y="19050"/>
                  </a:lnTo>
                  <a:lnTo>
                    <a:pt x="10293731" y="0"/>
                  </a:lnTo>
                  <a:cubicBezTo>
                    <a:pt x="10406507" y="0"/>
                    <a:pt x="10498328" y="90170"/>
                    <a:pt x="10498328" y="201930"/>
                  </a:cubicBezTo>
                  <a:lnTo>
                    <a:pt x="10479278" y="201930"/>
                  </a:lnTo>
                  <a:lnTo>
                    <a:pt x="10498328" y="201930"/>
                  </a:lnTo>
                  <a:lnTo>
                    <a:pt x="10498328" y="1937639"/>
                  </a:lnTo>
                  <a:lnTo>
                    <a:pt x="10479278" y="1937639"/>
                  </a:lnTo>
                  <a:lnTo>
                    <a:pt x="10498328" y="1937639"/>
                  </a:lnTo>
                  <a:cubicBezTo>
                    <a:pt x="10498328" y="2049399"/>
                    <a:pt x="10406507" y="2139569"/>
                    <a:pt x="10293731" y="2139569"/>
                  </a:cubicBezTo>
                  <a:lnTo>
                    <a:pt x="10293731" y="2120519"/>
                  </a:lnTo>
                  <a:lnTo>
                    <a:pt x="10293731" y="2139569"/>
                  </a:lnTo>
                  <a:lnTo>
                    <a:pt x="204597" y="2139569"/>
                  </a:lnTo>
                  <a:lnTo>
                    <a:pt x="204597" y="2120519"/>
                  </a:lnTo>
                  <a:lnTo>
                    <a:pt x="204597" y="2139569"/>
                  </a:lnTo>
                  <a:cubicBezTo>
                    <a:pt x="91821" y="2139569"/>
                    <a:pt x="0" y="2049399"/>
                    <a:pt x="0" y="1937639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1937639"/>
                  </a:lnTo>
                  <a:lnTo>
                    <a:pt x="19050" y="1937639"/>
                  </a:lnTo>
                  <a:lnTo>
                    <a:pt x="38100" y="1937639"/>
                  </a:lnTo>
                  <a:cubicBezTo>
                    <a:pt x="38100" y="2027809"/>
                    <a:pt x="112395" y="2101469"/>
                    <a:pt x="204597" y="2101469"/>
                  </a:cubicBezTo>
                  <a:lnTo>
                    <a:pt x="10293731" y="2101469"/>
                  </a:lnTo>
                  <a:cubicBezTo>
                    <a:pt x="10385933" y="2101469"/>
                    <a:pt x="10460228" y="2027809"/>
                    <a:pt x="10460228" y="1937639"/>
                  </a:cubicBezTo>
                  <a:lnTo>
                    <a:pt x="10460228" y="201930"/>
                  </a:lnTo>
                  <a:cubicBezTo>
                    <a:pt x="10460228" y="111760"/>
                    <a:pt x="10385933" y="38100"/>
                    <a:pt x="10293731" y="38100"/>
                  </a:cubicBezTo>
                  <a:lnTo>
                    <a:pt x="204597" y="38100"/>
                  </a:lnTo>
                  <a:lnTo>
                    <a:pt x="204597" y="19050"/>
                  </a:lnTo>
                  <a:lnTo>
                    <a:pt x="204597" y="38100"/>
                  </a:lnTo>
                  <a:cubicBezTo>
                    <a:pt x="112395" y="38100"/>
                    <a:pt x="38100" y="111760"/>
                    <a:pt x="38100" y="201930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091" y="7669711"/>
            <a:ext cx="114300" cy="1576092"/>
            <a:chOff x="0" y="0"/>
            <a:chExt cx="152400" cy="2101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400" cy="2101469"/>
            </a:xfrm>
            <a:custGeom>
              <a:avLst/>
              <a:gdLst/>
              <a:ahLst/>
              <a:cxnLst/>
              <a:rect r="r" b="b" t="t" l="l"/>
              <a:pathLst>
                <a:path h="2101469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2025269"/>
                  </a:lnTo>
                  <a:cubicBezTo>
                    <a:pt x="152400" y="2067306"/>
                    <a:pt x="118237" y="2101469"/>
                    <a:pt x="76200" y="2101469"/>
                  </a:cubicBezTo>
                  <a:cubicBezTo>
                    <a:pt x="34163" y="2101469"/>
                    <a:pt x="0" y="2067306"/>
                    <a:pt x="0" y="2025269"/>
                  </a:cubicBez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57160" y="7942955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Manajemen Aset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57160" y="8510740"/>
            <a:ext cx="7193909" cy="4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Pengelolaan dan inventarisasi aset belum optimal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63678" y="2627557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Hasil Uji Instrumen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58916" y="3285830"/>
            <a:ext cx="3818182" cy="2318747"/>
            <a:chOff x="0" y="0"/>
            <a:chExt cx="5090909" cy="30916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5078222" cy="3078988"/>
            </a:xfrm>
            <a:custGeom>
              <a:avLst/>
              <a:gdLst/>
              <a:ahLst/>
              <a:cxnLst/>
              <a:rect r="r" b="b" t="t" l="l"/>
              <a:pathLst>
                <a:path h="3078988" w="5078222">
                  <a:moveTo>
                    <a:pt x="0" y="142367"/>
                  </a:moveTo>
                  <a:cubicBezTo>
                    <a:pt x="0" y="63754"/>
                    <a:pt x="63881" y="0"/>
                    <a:pt x="142621" y="0"/>
                  </a:cubicBezTo>
                  <a:lnTo>
                    <a:pt x="4935601" y="0"/>
                  </a:lnTo>
                  <a:cubicBezTo>
                    <a:pt x="5014341" y="0"/>
                    <a:pt x="5078222" y="63754"/>
                    <a:pt x="5078222" y="142367"/>
                  </a:cubicBezTo>
                  <a:lnTo>
                    <a:pt x="5078222" y="2936621"/>
                  </a:lnTo>
                  <a:cubicBezTo>
                    <a:pt x="5078222" y="3015234"/>
                    <a:pt x="5014341" y="3078988"/>
                    <a:pt x="4935601" y="3078988"/>
                  </a:cubicBezTo>
                  <a:lnTo>
                    <a:pt x="142621" y="3078988"/>
                  </a:lnTo>
                  <a:cubicBezTo>
                    <a:pt x="63881" y="3078988"/>
                    <a:pt x="0" y="3015234"/>
                    <a:pt x="0" y="2936621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90922" cy="3091688"/>
            </a:xfrm>
            <a:custGeom>
              <a:avLst/>
              <a:gdLst/>
              <a:ahLst/>
              <a:cxnLst/>
              <a:rect r="r" b="b" t="t" l="l"/>
              <a:pathLst>
                <a:path h="3091688" w="5090922">
                  <a:moveTo>
                    <a:pt x="0" y="148717"/>
                  </a:moveTo>
                  <a:cubicBezTo>
                    <a:pt x="0" y="66548"/>
                    <a:pt x="66675" y="0"/>
                    <a:pt x="148971" y="0"/>
                  </a:cubicBezTo>
                  <a:lnTo>
                    <a:pt x="4941951" y="0"/>
                  </a:lnTo>
                  <a:lnTo>
                    <a:pt x="4941951" y="6350"/>
                  </a:lnTo>
                  <a:lnTo>
                    <a:pt x="4941951" y="0"/>
                  </a:lnTo>
                  <a:cubicBezTo>
                    <a:pt x="5024247" y="0"/>
                    <a:pt x="5090922" y="66548"/>
                    <a:pt x="5090922" y="148717"/>
                  </a:cubicBezTo>
                  <a:lnTo>
                    <a:pt x="5084572" y="148717"/>
                  </a:lnTo>
                  <a:lnTo>
                    <a:pt x="5090922" y="148717"/>
                  </a:lnTo>
                  <a:lnTo>
                    <a:pt x="5090922" y="2942971"/>
                  </a:lnTo>
                  <a:lnTo>
                    <a:pt x="5084572" y="2942971"/>
                  </a:lnTo>
                  <a:lnTo>
                    <a:pt x="5090922" y="2942971"/>
                  </a:lnTo>
                  <a:cubicBezTo>
                    <a:pt x="5090922" y="3025140"/>
                    <a:pt x="5024247" y="3091688"/>
                    <a:pt x="4941951" y="3091688"/>
                  </a:cubicBezTo>
                  <a:lnTo>
                    <a:pt x="4941951" y="3085338"/>
                  </a:lnTo>
                  <a:lnTo>
                    <a:pt x="4941951" y="3091688"/>
                  </a:lnTo>
                  <a:lnTo>
                    <a:pt x="148971" y="3091688"/>
                  </a:lnTo>
                  <a:lnTo>
                    <a:pt x="148971" y="3085338"/>
                  </a:lnTo>
                  <a:lnTo>
                    <a:pt x="148971" y="3091688"/>
                  </a:lnTo>
                  <a:cubicBezTo>
                    <a:pt x="66675" y="3091688"/>
                    <a:pt x="0" y="3025140"/>
                    <a:pt x="0" y="2942971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2942971"/>
                  </a:lnTo>
                  <a:lnTo>
                    <a:pt x="6350" y="2942971"/>
                  </a:lnTo>
                  <a:lnTo>
                    <a:pt x="12700" y="2942971"/>
                  </a:lnTo>
                  <a:cubicBezTo>
                    <a:pt x="12700" y="3018028"/>
                    <a:pt x="73660" y="3078988"/>
                    <a:pt x="148971" y="3078988"/>
                  </a:cubicBezTo>
                  <a:lnTo>
                    <a:pt x="4941951" y="3078988"/>
                  </a:lnTo>
                  <a:cubicBezTo>
                    <a:pt x="5017262" y="3078988"/>
                    <a:pt x="5078222" y="3018028"/>
                    <a:pt x="5078222" y="2942971"/>
                  </a:cubicBezTo>
                  <a:lnTo>
                    <a:pt x="5078222" y="148717"/>
                  </a:lnTo>
                  <a:cubicBezTo>
                    <a:pt x="5078222" y="73660"/>
                    <a:pt x="5017262" y="12700"/>
                    <a:pt x="4941951" y="12700"/>
                  </a:cubicBezTo>
                  <a:lnTo>
                    <a:pt x="148971" y="12700"/>
                  </a:lnTo>
                  <a:lnTo>
                    <a:pt x="148971" y="6350"/>
                  </a:lnTo>
                  <a:lnTo>
                    <a:pt x="148971" y="12700"/>
                  </a:lnTo>
                  <a:cubicBezTo>
                    <a:pt x="73660" y="12700"/>
                    <a:pt x="12700" y="73660"/>
                    <a:pt x="12700" y="148717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27406" y="3544786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Validitas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27406" y="4112571"/>
            <a:ext cx="3281210" cy="122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Sebagian besar item pertanyaan dinyatakan </a:t>
            </a:r>
            <a:r>
              <a:rPr lang="en-US" sz="2000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valid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495439" y="3285830"/>
            <a:ext cx="3818182" cy="2318747"/>
            <a:chOff x="0" y="0"/>
            <a:chExt cx="5090909" cy="309166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" y="6350"/>
              <a:ext cx="5078222" cy="3078988"/>
            </a:xfrm>
            <a:custGeom>
              <a:avLst/>
              <a:gdLst/>
              <a:ahLst/>
              <a:cxnLst/>
              <a:rect r="r" b="b" t="t" l="l"/>
              <a:pathLst>
                <a:path h="3078988" w="5078222">
                  <a:moveTo>
                    <a:pt x="0" y="142367"/>
                  </a:moveTo>
                  <a:cubicBezTo>
                    <a:pt x="0" y="63754"/>
                    <a:pt x="63881" y="0"/>
                    <a:pt x="142621" y="0"/>
                  </a:cubicBezTo>
                  <a:lnTo>
                    <a:pt x="4935601" y="0"/>
                  </a:lnTo>
                  <a:cubicBezTo>
                    <a:pt x="5014341" y="0"/>
                    <a:pt x="5078222" y="63754"/>
                    <a:pt x="5078222" y="142367"/>
                  </a:cubicBezTo>
                  <a:lnTo>
                    <a:pt x="5078222" y="2936621"/>
                  </a:lnTo>
                  <a:cubicBezTo>
                    <a:pt x="5078222" y="3015234"/>
                    <a:pt x="5014341" y="3078988"/>
                    <a:pt x="4935601" y="3078988"/>
                  </a:cubicBezTo>
                  <a:lnTo>
                    <a:pt x="142621" y="3078988"/>
                  </a:lnTo>
                  <a:cubicBezTo>
                    <a:pt x="63881" y="3078988"/>
                    <a:pt x="0" y="3015234"/>
                    <a:pt x="0" y="2936621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90922" cy="3091688"/>
            </a:xfrm>
            <a:custGeom>
              <a:avLst/>
              <a:gdLst/>
              <a:ahLst/>
              <a:cxnLst/>
              <a:rect r="r" b="b" t="t" l="l"/>
              <a:pathLst>
                <a:path h="3091688" w="5090922">
                  <a:moveTo>
                    <a:pt x="0" y="148717"/>
                  </a:moveTo>
                  <a:cubicBezTo>
                    <a:pt x="0" y="66548"/>
                    <a:pt x="66675" y="0"/>
                    <a:pt x="148971" y="0"/>
                  </a:cubicBezTo>
                  <a:lnTo>
                    <a:pt x="4941951" y="0"/>
                  </a:lnTo>
                  <a:lnTo>
                    <a:pt x="4941951" y="6350"/>
                  </a:lnTo>
                  <a:lnTo>
                    <a:pt x="4941951" y="0"/>
                  </a:lnTo>
                  <a:cubicBezTo>
                    <a:pt x="5024247" y="0"/>
                    <a:pt x="5090922" y="66548"/>
                    <a:pt x="5090922" y="148717"/>
                  </a:cubicBezTo>
                  <a:lnTo>
                    <a:pt x="5084572" y="148717"/>
                  </a:lnTo>
                  <a:lnTo>
                    <a:pt x="5090922" y="148717"/>
                  </a:lnTo>
                  <a:lnTo>
                    <a:pt x="5090922" y="2942971"/>
                  </a:lnTo>
                  <a:lnTo>
                    <a:pt x="5084572" y="2942971"/>
                  </a:lnTo>
                  <a:lnTo>
                    <a:pt x="5090922" y="2942971"/>
                  </a:lnTo>
                  <a:cubicBezTo>
                    <a:pt x="5090922" y="3025140"/>
                    <a:pt x="5024247" y="3091688"/>
                    <a:pt x="4941951" y="3091688"/>
                  </a:cubicBezTo>
                  <a:lnTo>
                    <a:pt x="4941951" y="3085338"/>
                  </a:lnTo>
                  <a:lnTo>
                    <a:pt x="4941951" y="3091688"/>
                  </a:lnTo>
                  <a:lnTo>
                    <a:pt x="148971" y="3091688"/>
                  </a:lnTo>
                  <a:lnTo>
                    <a:pt x="148971" y="3085338"/>
                  </a:lnTo>
                  <a:lnTo>
                    <a:pt x="148971" y="3091688"/>
                  </a:lnTo>
                  <a:cubicBezTo>
                    <a:pt x="66675" y="3091688"/>
                    <a:pt x="0" y="3025140"/>
                    <a:pt x="0" y="2942971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2942971"/>
                  </a:lnTo>
                  <a:lnTo>
                    <a:pt x="6350" y="2942971"/>
                  </a:lnTo>
                  <a:lnTo>
                    <a:pt x="12700" y="2942971"/>
                  </a:lnTo>
                  <a:cubicBezTo>
                    <a:pt x="12700" y="3018028"/>
                    <a:pt x="73660" y="3078988"/>
                    <a:pt x="148971" y="3078988"/>
                  </a:cubicBezTo>
                  <a:lnTo>
                    <a:pt x="4941951" y="3078988"/>
                  </a:lnTo>
                  <a:cubicBezTo>
                    <a:pt x="5017262" y="3078988"/>
                    <a:pt x="5078222" y="3018028"/>
                    <a:pt x="5078222" y="2942971"/>
                  </a:cubicBezTo>
                  <a:lnTo>
                    <a:pt x="5078222" y="148717"/>
                  </a:lnTo>
                  <a:cubicBezTo>
                    <a:pt x="5078222" y="73660"/>
                    <a:pt x="5017262" y="12700"/>
                    <a:pt x="4941951" y="12700"/>
                  </a:cubicBezTo>
                  <a:lnTo>
                    <a:pt x="148971" y="12700"/>
                  </a:lnTo>
                  <a:lnTo>
                    <a:pt x="148971" y="6350"/>
                  </a:lnTo>
                  <a:lnTo>
                    <a:pt x="148971" y="12700"/>
                  </a:lnTo>
                  <a:cubicBezTo>
                    <a:pt x="73660" y="12700"/>
                    <a:pt x="12700" y="73660"/>
                    <a:pt x="12700" y="148717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3763920" y="3544786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Reliabilitas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63920" y="4112571"/>
            <a:ext cx="3281210" cy="837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Cronbach Alpha = </a:t>
            </a:r>
            <a:r>
              <a:rPr lang="en-US" sz="2000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0.969</a:t>
            </a: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(sangat tinggi)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458916" y="5822899"/>
            <a:ext cx="7854706" cy="1547517"/>
            <a:chOff x="0" y="0"/>
            <a:chExt cx="10472941" cy="20633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350" y="6350"/>
              <a:ext cx="10460228" cy="2050669"/>
            </a:xfrm>
            <a:custGeom>
              <a:avLst/>
              <a:gdLst/>
              <a:ahLst/>
              <a:cxnLst/>
              <a:rect r="r" b="b" t="t" l="l"/>
              <a:pathLst>
                <a:path h="2050669" w="10460228">
                  <a:moveTo>
                    <a:pt x="0" y="142367"/>
                  </a:moveTo>
                  <a:cubicBezTo>
                    <a:pt x="0" y="63754"/>
                    <a:pt x="64008" y="0"/>
                    <a:pt x="143129" y="0"/>
                  </a:cubicBezTo>
                  <a:lnTo>
                    <a:pt x="10317099" y="0"/>
                  </a:lnTo>
                  <a:cubicBezTo>
                    <a:pt x="10396093" y="0"/>
                    <a:pt x="10460228" y="63754"/>
                    <a:pt x="10460228" y="142367"/>
                  </a:cubicBezTo>
                  <a:lnTo>
                    <a:pt x="10460228" y="1908302"/>
                  </a:lnTo>
                  <a:cubicBezTo>
                    <a:pt x="10460228" y="1986915"/>
                    <a:pt x="10396220" y="2050669"/>
                    <a:pt x="10317099" y="2050669"/>
                  </a:cubicBezTo>
                  <a:lnTo>
                    <a:pt x="143129" y="2050669"/>
                  </a:lnTo>
                  <a:cubicBezTo>
                    <a:pt x="64008" y="2050669"/>
                    <a:pt x="0" y="1986915"/>
                    <a:pt x="0" y="1908302"/>
                  </a:cubicBezTo>
                  <a:close/>
                </a:path>
              </a:pathLst>
            </a:custGeom>
            <a:solidFill>
              <a:srgbClr val="283157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72928" cy="2063369"/>
            </a:xfrm>
            <a:custGeom>
              <a:avLst/>
              <a:gdLst/>
              <a:ahLst/>
              <a:cxnLst/>
              <a:rect r="r" b="b" t="t" l="l"/>
              <a:pathLst>
                <a:path h="2063369" w="10472928">
                  <a:moveTo>
                    <a:pt x="0" y="148717"/>
                  </a:moveTo>
                  <a:cubicBezTo>
                    <a:pt x="0" y="66548"/>
                    <a:pt x="66929" y="0"/>
                    <a:pt x="149479" y="0"/>
                  </a:cubicBezTo>
                  <a:lnTo>
                    <a:pt x="10323449" y="0"/>
                  </a:lnTo>
                  <a:lnTo>
                    <a:pt x="10323449" y="6350"/>
                  </a:lnTo>
                  <a:lnTo>
                    <a:pt x="10323449" y="0"/>
                  </a:lnTo>
                  <a:cubicBezTo>
                    <a:pt x="10405999" y="0"/>
                    <a:pt x="10472928" y="66548"/>
                    <a:pt x="10472928" y="148717"/>
                  </a:cubicBezTo>
                  <a:lnTo>
                    <a:pt x="10466578" y="148717"/>
                  </a:lnTo>
                  <a:lnTo>
                    <a:pt x="10472928" y="148717"/>
                  </a:lnTo>
                  <a:lnTo>
                    <a:pt x="10472928" y="1914652"/>
                  </a:lnTo>
                  <a:lnTo>
                    <a:pt x="10466578" y="1914652"/>
                  </a:lnTo>
                  <a:lnTo>
                    <a:pt x="10472928" y="1914652"/>
                  </a:lnTo>
                  <a:cubicBezTo>
                    <a:pt x="10472928" y="1996821"/>
                    <a:pt x="10405999" y="2063369"/>
                    <a:pt x="10323449" y="2063369"/>
                  </a:cubicBezTo>
                  <a:lnTo>
                    <a:pt x="10323449" y="2057019"/>
                  </a:lnTo>
                  <a:lnTo>
                    <a:pt x="10323449" y="2063369"/>
                  </a:lnTo>
                  <a:lnTo>
                    <a:pt x="149479" y="2063369"/>
                  </a:lnTo>
                  <a:lnTo>
                    <a:pt x="149479" y="2057019"/>
                  </a:lnTo>
                  <a:lnTo>
                    <a:pt x="149479" y="2063369"/>
                  </a:lnTo>
                  <a:cubicBezTo>
                    <a:pt x="66929" y="2063369"/>
                    <a:pt x="0" y="1996821"/>
                    <a:pt x="0" y="1914652"/>
                  </a:cubicBezTo>
                  <a:lnTo>
                    <a:pt x="0" y="148717"/>
                  </a:lnTo>
                  <a:lnTo>
                    <a:pt x="6350" y="148717"/>
                  </a:lnTo>
                  <a:lnTo>
                    <a:pt x="0" y="148717"/>
                  </a:lnTo>
                  <a:moveTo>
                    <a:pt x="12700" y="148717"/>
                  </a:moveTo>
                  <a:lnTo>
                    <a:pt x="12700" y="1914652"/>
                  </a:lnTo>
                  <a:lnTo>
                    <a:pt x="6350" y="1914652"/>
                  </a:lnTo>
                  <a:lnTo>
                    <a:pt x="12700" y="1914652"/>
                  </a:lnTo>
                  <a:cubicBezTo>
                    <a:pt x="12700" y="1989709"/>
                    <a:pt x="73914" y="2050669"/>
                    <a:pt x="149479" y="2050669"/>
                  </a:cubicBezTo>
                  <a:lnTo>
                    <a:pt x="10323449" y="2050669"/>
                  </a:lnTo>
                  <a:cubicBezTo>
                    <a:pt x="10399014" y="2050669"/>
                    <a:pt x="10460228" y="1989709"/>
                    <a:pt x="10460228" y="1914652"/>
                  </a:cubicBezTo>
                  <a:lnTo>
                    <a:pt x="10460228" y="148717"/>
                  </a:lnTo>
                  <a:cubicBezTo>
                    <a:pt x="10460228" y="73660"/>
                    <a:pt x="10399014" y="12700"/>
                    <a:pt x="10323449" y="12700"/>
                  </a:cubicBezTo>
                  <a:lnTo>
                    <a:pt x="149479" y="12700"/>
                  </a:lnTo>
                  <a:lnTo>
                    <a:pt x="149479" y="6350"/>
                  </a:lnTo>
                  <a:lnTo>
                    <a:pt x="149479" y="12700"/>
                  </a:lnTo>
                  <a:cubicBezTo>
                    <a:pt x="73914" y="12700"/>
                    <a:pt x="12700" y="73660"/>
                    <a:pt x="12700" y="148717"/>
                  </a:cubicBezTo>
                  <a:close/>
                </a:path>
              </a:pathLst>
            </a:custGeom>
            <a:solidFill>
              <a:srgbClr val="414A7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727406" y="6081865"/>
            <a:ext cx="3177931" cy="406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Akurasi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727406" y="6649641"/>
            <a:ext cx="7317734" cy="4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Fuzzy FMEA </a:t>
            </a:r>
            <a:r>
              <a:rPr lang="en-US" sz="2000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lebih akurat</a:t>
            </a:r>
            <a:r>
              <a:rPr lang="en-US" sz="2000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dibanding FMEA konvensional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66327" y="671065"/>
            <a:ext cx="30941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Penutup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6327" y="1134513"/>
            <a:ext cx="8329022" cy="79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Kesimpulan &amp; Rekomendasi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66327" y="2494207"/>
            <a:ext cx="10549528" cy="5888088"/>
            <a:chOff x="0" y="0"/>
            <a:chExt cx="14066037" cy="785078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4066013" cy="7850759"/>
            </a:xfrm>
            <a:custGeom>
              <a:avLst/>
              <a:gdLst/>
              <a:ahLst/>
              <a:cxnLst/>
              <a:rect r="r" b="b" t="t" l="l"/>
              <a:pathLst>
                <a:path h="7850759" w="14066013">
                  <a:moveTo>
                    <a:pt x="0" y="0"/>
                  </a:moveTo>
                  <a:lnTo>
                    <a:pt x="14066013" y="0"/>
                  </a:lnTo>
                  <a:lnTo>
                    <a:pt x="14066013" y="7850759"/>
                  </a:lnTo>
                  <a:lnTo>
                    <a:pt x="0" y="7850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" t="0" r="-3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29332" y="3899144"/>
            <a:ext cx="3094139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Kondisi Saat Ini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29332" y="4444756"/>
            <a:ext cx="5401713" cy="192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Keamanan sistem informasi Dinas Kependudukan XYZ </a:t>
            </a:r>
            <a:r>
              <a:rPr lang="en-US" sz="193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belum optimal</a:t>
            </a: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. Ditemukan </a:t>
            </a:r>
            <a:r>
              <a:rPr lang="en-US" sz="1937" b="true">
                <a:solidFill>
                  <a:srgbClr val="8C98CA"/>
                </a:solidFill>
                <a:latin typeface="Arimo Bold"/>
                <a:ea typeface="Arimo Bold"/>
                <a:cs typeface="Arimo Bold"/>
                <a:sym typeface="Arimo Bold"/>
              </a:rPr>
              <a:t>13 risiko sangat tinggi</a:t>
            </a: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dan </a:t>
            </a:r>
            <a:r>
              <a:rPr lang="en-US" sz="1937" b="true">
                <a:solidFill>
                  <a:srgbClr val="8C98CA"/>
                </a:solidFill>
                <a:latin typeface="Arimo Bold"/>
                <a:ea typeface="Arimo Bold"/>
                <a:cs typeface="Arimo Bold"/>
                <a:sym typeface="Arimo Bold"/>
              </a:rPr>
              <a:t>10 risiko tinggi</a:t>
            </a: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yang memerlukan penanganan segera.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29332" y="6571659"/>
            <a:ext cx="4957020" cy="39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75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Langkah yang Direkomendasikan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59196" y="8880719"/>
            <a:ext cx="371180" cy="371180"/>
          </a:xfrm>
          <a:custGeom>
            <a:avLst/>
            <a:gdLst/>
            <a:ahLst/>
            <a:cxnLst/>
            <a:rect r="r" b="b" t="t" l="l"/>
            <a:pathLst>
              <a:path h="371180" w="371180">
                <a:moveTo>
                  <a:pt x="0" y="0"/>
                </a:moveTo>
                <a:lnTo>
                  <a:pt x="371180" y="0"/>
                </a:lnTo>
                <a:lnTo>
                  <a:pt x="371180" y="371180"/>
                </a:lnTo>
                <a:lnTo>
                  <a:pt x="0" y="371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3" t="0" r="-8973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70742" y="8801691"/>
            <a:ext cx="4533900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Implementasi penuh standar </a:t>
            </a:r>
            <a:r>
              <a:rPr lang="en-US" sz="193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ISO/IEC 27001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6567640" y="8880719"/>
            <a:ext cx="371180" cy="371180"/>
          </a:xfrm>
          <a:custGeom>
            <a:avLst/>
            <a:gdLst/>
            <a:ahLst/>
            <a:cxnLst/>
            <a:rect r="r" b="b" t="t" l="l"/>
            <a:pathLst>
              <a:path h="371180" w="371180">
                <a:moveTo>
                  <a:pt x="0" y="0"/>
                </a:moveTo>
                <a:lnTo>
                  <a:pt x="371180" y="0"/>
                </a:lnTo>
                <a:lnTo>
                  <a:pt x="371180" y="371180"/>
                </a:lnTo>
                <a:lnTo>
                  <a:pt x="0" y="371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3" t="0" r="-897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279186" y="8801691"/>
            <a:ext cx="4533900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Dokumentasi dan formalisasi </a:t>
            </a:r>
            <a:r>
              <a:rPr lang="en-US" sz="193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kebijakan keamanan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2176074" y="8880719"/>
            <a:ext cx="371180" cy="371180"/>
          </a:xfrm>
          <a:custGeom>
            <a:avLst/>
            <a:gdLst/>
            <a:ahLst/>
            <a:cxnLst/>
            <a:rect r="r" b="b" t="t" l="l"/>
            <a:pathLst>
              <a:path h="371180" w="371180">
                <a:moveTo>
                  <a:pt x="0" y="0"/>
                </a:moveTo>
                <a:lnTo>
                  <a:pt x="371180" y="0"/>
                </a:lnTo>
                <a:lnTo>
                  <a:pt x="371180" y="371180"/>
                </a:lnTo>
                <a:lnTo>
                  <a:pt x="0" y="371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973" t="0" r="-8973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887620" y="8801691"/>
            <a:ext cx="4533900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Peningkatan </a:t>
            </a:r>
            <a:r>
              <a:rPr lang="en-US" sz="193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kepercayaan publik</a:t>
            </a:r>
            <a:r>
              <a:rPr lang="en-US" sz="193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melalui keamanan yang terstandar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8AFC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0E2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4408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Referensi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090890"/>
            <a:ext cx="7088238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FFFFFF"/>
                </a:solidFill>
                <a:latin typeface="Fraunces"/>
                <a:ea typeface="Fraunces"/>
                <a:cs typeface="Fraunces"/>
                <a:sym typeface="Fraunces"/>
              </a:rPr>
              <a:t>Daftar Pustaka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4138" y="3383013"/>
            <a:ext cx="76200" cy="3410988"/>
            <a:chOff x="0" y="0"/>
            <a:chExt cx="101600" cy="45479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600" cy="4547997"/>
            </a:xfrm>
            <a:custGeom>
              <a:avLst/>
              <a:gdLst/>
              <a:ahLst/>
              <a:cxnLst/>
              <a:rect r="r" b="b" t="t" l="l"/>
              <a:pathLst>
                <a:path h="4547997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4547997"/>
                  </a:lnTo>
                  <a:lnTo>
                    <a:pt x="0" y="4547997"/>
                  </a:ln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1959" y="3411588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Sumber Utama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1959" y="3929358"/>
            <a:ext cx="4838548" cy="282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Kusnandar, A. (2024). Evaluasi Keamanan Sistem Informasi Menggunakan Fuzzy FMEA Berbasis ISO/IEC 27001:2013. </a:t>
            </a:r>
            <a:r>
              <a:rPr lang="en-US" sz="2187" i="true">
                <a:solidFill>
                  <a:srgbClr val="EBECEF"/>
                </a:solidFill>
                <a:latin typeface="Arimo Italics"/>
                <a:ea typeface="Arimo Italics"/>
                <a:cs typeface="Arimo Italics"/>
                <a:sym typeface="Arimo Italics"/>
              </a:rPr>
              <a:t>Jurnal Sistem Informasi Bisnis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Universitas Diponegoro.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06766" y="3383013"/>
            <a:ext cx="76200" cy="3410988"/>
            <a:chOff x="0" y="0"/>
            <a:chExt cx="101600" cy="4547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600" cy="4547997"/>
            </a:xfrm>
            <a:custGeom>
              <a:avLst/>
              <a:gdLst/>
              <a:ahLst/>
              <a:cxnLst/>
              <a:rect r="r" b="b" t="t" l="l"/>
              <a:pathLst>
                <a:path h="4547997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4547997"/>
                  </a:lnTo>
                  <a:lnTo>
                    <a:pt x="0" y="4547997"/>
                  </a:ln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904587" y="3411588"/>
            <a:ext cx="370313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Standar Internasional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4587" y="3929358"/>
            <a:ext cx="4838548" cy="282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ISO/IEC 27001:2013 — </a:t>
            </a:r>
            <a:r>
              <a:rPr lang="en-US" sz="2187" i="true">
                <a:solidFill>
                  <a:srgbClr val="EBECEF"/>
                </a:solidFill>
                <a:latin typeface="Arimo Italics"/>
                <a:ea typeface="Arimo Italics"/>
                <a:cs typeface="Arimo Italics"/>
                <a:sym typeface="Arimo Italics"/>
              </a:rPr>
              <a:t>Information Technology: Security Techniques — Information Security Management Systems — Requirements.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International Organization for Standardization.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59393" y="3383013"/>
            <a:ext cx="76200" cy="3410988"/>
            <a:chOff x="0" y="0"/>
            <a:chExt cx="101600" cy="45479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600" cy="4547997"/>
            </a:xfrm>
            <a:custGeom>
              <a:avLst/>
              <a:gdLst/>
              <a:ahLst/>
              <a:cxnLst/>
              <a:rect r="r" b="b" t="t" l="l"/>
              <a:pathLst>
                <a:path h="4547997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4547997"/>
                  </a:lnTo>
                  <a:lnTo>
                    <a:pt x="0" y="4547997"/>
                  </a:lnTo>
                  <a:close/>
                </a:path>
              </a:pathLst>
            </a:custGeom>
            <a:solidFill>
              <a:srgbClr val="8C98C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57214" y="3411588"/>
            <a:ext cx="3635578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EBECEF"/>
                </a:solidFill>
                <a:latin typeface="Fraunces"/>
                <a:ea typeface="Fraunces"/>
                <a:cs typeface="Fraunces"/>
                <a:sym typeface="Fraunces"/>
              </a:rPr>
              <a:t>Referensi Pendukung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7214" y="3929358"/>
            <a:ext cx="4838548" cy="2372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Berbagai referensi terkait metodologi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FMEA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Logika Fuzzy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, dan </a:t>
            </a:r>
            <a:r>
              <a:rPr lang="en-US" sz="2187" b="true">
                <a:solidFill>
                  <a:srgbClr val="EBECEF"/>
                </a:solidFill>
                <a:latin typeface="Arimo Bold"/>
                <a:ea typeface="Arimo Bold"/>
                <a:cs typeface="Arimo Bold"/>
                <a:sym typeface="Arimo Bold"/>
              </a:rPr>
              <a:t>manajemen risiko keamanan informasi</a:t>
            </a:r>
            <a:r>
              <a:rPr lang="en-US" sz="2187">
                <a:solidFill>
                  <a:srgbClr val="EBECEF"/>
                </a:solidFill>
                <a:latin typeface="Arimo"/>
                <a:ea typeface="Arimo"/>
                <a:cs typeface="Arimo"/>
                <a:sym typeface="Arimo"/>
              </a:rPr>
              <a:t> sebagaimana tercantum dalam jurnal utama.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7074846"/>
            <a:ext cx="16303523" cy="1658388"/>
            <a:chOff x="0" y="0"/>
            <a:chExt cx="21738031" cy="2211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37955" cy="2211070"/>
            </a:xfrm>
            <a:custGeom>
              <a:avLst/>
              <a:gdLst/>
              <a:ahLst/>
              <a:cxnLst/>
              <a:rect r="r" b="b" t="t" l="l"/>
              <a:pathLst>
                <a:path h="2211070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963" y="0"/>
                    <a:pt x="21737955" y="71120"/>
                    <a:pt x="21737955" y="158750"/>
                  </a:cubicBezTo>
                  <a:lnTo>
                    <a:pt x="21737955" y="2052320"/>
                  </a:lnTo>
                  <a:cubicBezTo>
                    <a:pt x="21737955" y="2140077"/>
                    <a:pt x="21666836" y="2211070"/>
                    <a:pt x="21579205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181E3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5759" y="7485907"/>
            <a:ext cx="354359" cy="283521"/>
            <a:chOff x="0" y="0"/>
            <a:chExt cx="472478" cy="378028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913630" y="7324430"/>
            <a:ext cx="1509861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Penelitian ini dipublikasikan pada tahun 2024 dan dapat diakses melalui Jurnal Sistem Informasi Bisnis, Universitas Diponegoro.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DAHFktQKIIQ</dc:identifier>
  <dcterms:modified xsi:type="dcterms:W3CDTF">2011-08-01T06:04:30Z</dcterms:modified>
  <cp:revision>1</cp:revision>
  <dc:title>Evaluasi-Keamanan-Sistem-Informasi-Menggunakan-Fuzzy-FMEA-Berbasis-ISOIEC-270012013.pptx</dc:title>
</cp:coreProperties>
</file>